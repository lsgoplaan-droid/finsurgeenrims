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38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insurge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274320"/>
            <a:ext cx="581558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22860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6000" b="1">
                <a:solidFill>
                  <a:srgbClr val="FFFFFF"/>
                </a:solidFill>
              </a:defRPr>
            </a:pPr>
            <a:r>
              <a:t>FinsurgeENRIMS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EA3D75"/>
                </a:solidFill>
              </a:defRPr>
            </a:pPr>
            <a:r>
              <a:t>Real-Time Fraud Detection &amp; Risk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C8C8C8"/>
                </a:solidFill>
              </a:defRPr>
            </a:pPr>
            <a:r>
              <a:t>Enterprise Risk Management System for Indian Banking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F4380"/>
          </a:solidFill>
          <a:ln>
            <a:solidFill>
              <a:srgbClr val="1F43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finsurge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274320"/>
            <a:ext cx="581558" cy="548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320040"/>
            <a:ext cx="7498079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3800" b="1">
                <a:solidFill>
                  <a:srgbClr val="1F4380"/>
                </a:solidFill>
              </a:defRPr>
            </a:pPr>
            <a:r>
              <a:t>System Overview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31520" y="1280160"/>
            <a:ext cx="2468880" cy="0"/>
          </a:xfrm>
          <a:prstGeom prst="line">
            <a:avLst/>
          </a:prstGeom>
          <a:ln w="50800">
            <a:solidFill>
              <a:srgbClr val="EA3D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31520" y="1600200"/>
            <a:ext cx="7680960" cy="4800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74151"/>
                </a:solidFill>
              </a:defRPr>
            </a:pPr>
            <a:r>
              <a:t>Real-time detection of fraud, cyber attacks, and regulatory violations for Indian banks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74151"/>
                </a:solidFill>
              </a:defRPr>
            </a:pPr>
            <a:r>
              <a:t>92 detection rules organized into 22 detection scenarios covering: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74151"/>
                </a:solidFill>
              </a:defRPr>
            </a:pPr>
            <a:r>
              <a:t>Fraud patterns (card fraud, account takeover, behavioral anomalies, mule accounts)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74151"/>
                </a:solidFill>
              </a:defRPr>
            </a:pPr>
            <a:r>
              <a:t>Cyber threats (SIM swap, phishing, UPI fraud, digital channel attacks)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74151"/>
                </a:solidFill>
              </a:defRPr>
            </a:pPr>
            <a:r>
              <a:t>Advanced fraud (AI deepfakes, synthetic identities, bot detection)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74151"/>
                </a:solidFill>
              </a:defRPr>
            </a:pPr>
            <a:r>
              <a:t>Internal fraud (employee abuse, data theft)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74151"/>
                </a:solidFill>
              </a:defRPr>
            </a:pPr>
            <a:r>
              <a:t>Customer 360° unified view with network relationship analysis and risk screening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74151"/>
                </a:solidFill>
              </a:defRPr>
            </a:pPr>
            <a:r>
              <a:t>Alert-to-case-to-investigation workflow with SLA tracking and AI-powered investigation copilot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F4380"/>
          </a:solidFill>
          <a:ln>
            <a:solidFill>
              <a:srgbClr val="1F43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finsurge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274320"/>
            <a:ext cx="581558" cy="548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320040"/>
            <a:ext cx="7498079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3800" b="1">
                <a:solidFill>
                  <a:srgbClr val="1F4380"/>
                </a:solidFill>
              </a:defRPr>
            </a:pPr>
            <a:r>
              <a:t>Investigation Copilot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31520" y="1280160"/>
            <a:ext cx="2468880" cy="0"/>
          </a:xfrm>
          <a:prstGeom prst="line">
            <a:avLst/>
          </a:prstGeom>
          <a:ln w="50800">
            <a:solidFill>
              <a:srgbClr val="EA3D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31520" y="1600200"/>
            <a:ext cx="7680960" cy="4800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74151"/>
                </a:solidFill>
              </a:defRPr>
            </a:pPr>
            <a:r>
              <a:t>AI-assisted investigation platform that accelerates alert analysis and case resolution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74151"/>
                </a:solidFill>
              </a:defRPr>
            </a:pPr>
            <a:r>
              <a:t>Score Calculation Transparency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74151"/>
                </a:solidFill>
              </a:defRPr>
            </a:pPr>
            <a:r>
              <a:t>Hover tooltip shows exact risk score formula: Base Alert + Risk Factors + PEP Flag + Severity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74151"/>
                </a:solidFill>
              </a:defRPr>
            </a:pPr>
            <a:r>
              <a:t>Helps investigators understand why alerts are prioritized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74151"/>
                </a:solidFill>
              </a:defRPr>
            </a:pPr>
            <a:r>
              <a:rPr b="1"/>
              <a:t>Ask the Copilot</a:t>
            </a:r>
            <a:r>
              <a:t> — Conversational Analysis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74151"/>
                </a:solidFill>
              </a:defRPr>
            </a:pPr>
            <a:r>
              <a:t>'Why is this customer flagged?' → Copilot explains detection pattern and rule triggers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74151"/>
                </a:solidFill>
              </a:defRPr>
            </a:pPr>
            <a:r>
              <a:t>'Show similar cases' → Retrieves historical closed cases with similar characteristics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74151"/>
                </a:solidFill>
              </a:defRPr>
            </a:pPr>
            <a:r>
              <a:t>'Next steps?' → Recommends investigation actions based on alert profile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74151"/>
                </a:solidFill>
              </a:defRPr>
            </a:pPr>
            <a:r>
              <a:t>Context Integration: Previous cases, activity timeline, related alerts all visible in one view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F4380"/>
          </a:solidFill>
          <a:ln>
            <a:solidFill>
              <a:srgbClr val="1F43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finsurge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274320"/>
            <a:ext cx="581558" cy="548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320040"/>
            <a:ext cx="7498079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3800" b="1">
                <a:solidFill>
                  <a:srgbClr val="1F4380"/>
                </a:solidFill>
              </a:defRPr>
            </a:pPr>
            <a:r>
              <a:t>Detection Scenarios — Read-Only Framework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31520" y="1280160"/>
            <a:ext cx="2468880" cy="0"/>
          </a:xfrm>
          <a:prstGeom prst="line">
            <a:avLst/>
          </a:prstGeom>
          <a:ln w="50800">
            <a:solidFill>
              <a:srgbClr val="EA3D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31520" y="1600200"/>
            <a:ext cx="7680960" cy="4800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74151"/>
                </a:solidFill>
              </a:defRPr>
            </a:pPr>
            <a:r>
              <a:t>Detection Scenarios are read-only templates that group related rules by fraud/risk type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74151"/>
                </a:solidFill>
              </a:defRPr>
            </a:pPr>
            <a:r>
              <a:t>22 Pre-Built Scenarios (not editable via UI):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74151"/>
                </a:solidFill>
              </a:defRPr>
            </a:pPr>
            <a:r>
              <a:t>Fraud: Card Fraud (3 rules), Account Takeover (3), Behavioral Anomaly (5), Mule Accounts (3)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74151"/>
                </a:solidFill>
              </a:defRPr>
            </a:pPr>
            <a:r>
              <a:t>Cyber: SIM Swap/Phishing (3), Digital Channel Attacks (4), UPI Fraud (3)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74151"/>
                </a:solidFill>
              </a:defRPr>
            </a:pPr>
            <a:r>
              <a:t>Advanced: Deepfake/Synthetic ID (5), Bot Detection (3)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74151"/>
                </a:solidFill>
              </a:defRPr>
            </a:pPr>
            <a:r>
              <a:t>Internal: Employee Abuse (7 rules), Data Theft (3)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74151"/>
                </a:solidFill>
              </a:defRPr>
            </a:pPr>
            <a:r>
              <a:t>Operational: Transaction Risk (5), Unusual Activity (4), Risk Escalation (3)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74151"/>
                </a:solidFill>
              </a:defRPr>
            </a:pPr>
            <a:r>
              <a:t>Scenario Metrics: Detection count, last triggered date, constituent rules status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74151"/>
                </a:solidFill>
              </a:defRPr>
            </a:pPr>
            <a:r>
              <a:t>Purpose: Provide investigators immediate context about fraud pattern types without manual setup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F4380"/>
          </a:solidFill>
          <a:ln>
            <a:solidFill>
              <a:srgbClr val="1F43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finsurge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274320"/>
            <a:ext cx="581558" cy="548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320040"/>
            <a:ext cx="7498079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3800" b="1">
                <a:solidFill>
                  <a:srgbClr val="1F4380"/>
                </a:solidFill>
              </a:defRPr>
            </a:pPr>
            <a:r>
              <a:t>Rules Engine — Transaction Evaluation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31520" y="1280160"/>
            <a:ext cx="2468880" cy="0"/>
          </a:xfrm>
          <a:prstGeom prst="line">
            <a:avLst/>
          </a:prstGeom>
          <a:ln w="50800">
            <a:solidFill>
              <a:srgbClr val="EA3D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31520" y="1600200"/>
            <a:ext cx="7680960" cy="4800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74151"/>
                </a:solidFill>
              </a:defRPr>
            </a:pPr>
            <a:r>
              <a:t>Real-time evaluation of 75 enabled detection rules against every customer transaction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74151"/>
                </a:solidFill>
              </a:defRPr>
            </a:pPr>
            <a:r>
              <a:t>Rule Architecture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74151"/>
                </a:solidFill>
              </a:defRPr>
            </a:pPr>
            <a:r>
              <a:t>Conditions: JSON-based logic trees (e.g., IF age &gt; 30 AND amount &gt; 10L, THEN flag)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74151"/>
                </a:solidFill>
              </a:defRPr>
            </a:pPr>
            <a:r>
              <a:t>Actions: Create alert, flag transaction, adjust customer risk score, notify compliance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74151"/>
                </a:solidFill>
              </a:defRPr>
            </a:pPr>
            <a:r>
              <a:t>Thresholds: Amount-based, count-based, time-windowed (1h, 24h, 7d, 30d, 90d)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74151"/>
                </a:solidFill>
              </a:defRPr>
            </a:pPr>
            <a:r>
              <a:t>Channels: Apply to specific channels (Mobile, Teller, ATM, Card, UPI)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74151"/>
                </a:solidFill>
              </a:defRPr>
            </a:pPr>
            <a:r>
              <a:t>Customer Types: Target rule to specific segments (High-Value, New, Dormant)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74151"/>
                </a:solidFill>
              </a:defRPr>
            </a:pPr>
            <a:r>
              <a:t>On-Rule Match Workflow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74151"/>
                </a:solidFill>
              </a:defRPr>
            </a:pPr>
            <a:r>
              <a:t>Alert created with risk score, assigned to analyst based on workload, SLA timer starts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74151"/>
                </a:solidFill>
              </a:defRPr>
            </a:pPr>
            <a:r>
              <a:t>Performance Tracking: Detection count per rule, false positive rate, rule effectiveness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F4380"/>
          </a:solidFill>
          <a:ln>
            <a:solidFill>
              <a:srgbClr val="1F43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finsurge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274320"/>
            <a:ext cx="581558" cy="548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320040"/>
            <a:ext cx="7498079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3800" b="1">
                <a:solidFill>
                  <a:srgbClr val="1F4380"/>
                </a:solidFill>
              </a:defRPr>
            </a:pPr>
            <a:r>
              <a:t>Customer 360 — Complete Risk Profile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31520" y="1280160"/>
            <a:ext cx="2468880" cy="0"/>
          </a:xfrm>
          <a:prstGeom prst="line">
            <a:avLst/>
          </a:prstGeom>
          <a:ln w="50800">
            <a:solidFill>
              <a:srgbClr val="EA3D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31520" y="1600200"/>
            <a:ext cx="7680960" cy="4800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74151"/>
                </a:solidFill>
              </a:defRPr>
            </a:pPr>
            <a:r>
              <a:t>Single-pane view of customer risk, transactions, cases, and connected entities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74151"/>
                </a:solidFill>
              </a:defRPr>
            </a:pPr>
            <a:r>
              <a:t>5 Integrated Tabs: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74151"/>
                </a:solidFill>
              </a:defRPr>
            </a:pPr>
            <a:r>
              <a:rPr b="1"/>
              <a:t>Overview</a:t>
            </a:r>
            <a:r>
              <a:t> — Risk score, KYC status, account summary, transaction heatmap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74151"/>
                </a:solidFill>
              </a:defRPr>
            </a:pPr>
            <a:r>
              <a:rPr b="1"/>
              <a:t>Transactions</a:t>
            </a:r>
            <a:r>
              <a:t> — Full transaction history with rule-match filtering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74151"/>
                </a:solidFill>
              </a:defRPr>
            </a:pPr>
            <a:r>
              <a:rPr b="1"/>
              <a:t>Alerts</a:t>
            </a:r>
            <a:r>
              <a:t> — All linked alerts with status, SLA, and investigation notes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74151"/>
                </a:solidFill>
              </a:defRPr>
            </a:pPr>
            <a:r>
              <a:rPr b="1"/>
              <a:t>Network Analysis</a:t>
            </a:r>
            <a:r>
              <a:t> — Relationship mapping showing connected entities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74151"/>
                </a:solidFill>
              </a:defRPr>
            </a:pPr>
            <a:r>
              <a:rPr b="1"/>
              <a:t>Audit</a:t>
            </a:r>
            <a:r>
              <a:t> — Immutable log of all customer-related actions and data access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74151"/>
                </a:solidFill>
              </a:defRPr>
            </a:pPr>
            <a:r>
              <a:t>Network Relationship Types: Parent/Subsidiary, UBO (Ultimate Beneficial Owner), Director, Shareholder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74151"/>
                </a:solidFill>
              </a:defRPr>
            </a:pPr>
            <a:r>
              <a:t>Risk Visualizations: Entity risk scores, PEP flags, sanctions match indicators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74151"/>
                </a:solidFill>
              </a:defRPr>
            </a:pPr>
            <a:r>
              <a:t>Enables investigators to understand customer's business ecosystem in seconds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F4380"/>
          </a:solidFill>
          <a:ln>
            <a:solidFill>
              <a:srgbClr val="1F43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finsurge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274320"/>
            <a:ext cx="581558" cy="548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320040"/>
            <a:ext cx="7498079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3800" b="1">
                <a:solidFill>
                  <a:srgbClr val="1F4380"/>
                </a:solidFill>
              </a:defRPr>
            </a:pPr>
            <a:r>
              <a:t>Alert Management — From Detection to Action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31520" y="1280160"/>
            <a:ext cx="2468880" cy="0"/>
          </a:xfrm>
          <a:prstGeom prst="line">
            <a:avLst/>
          </a:prstGeom>
          <a:ln w="50800">
            <a:solidFill>
              <a:srgbClr val="EA3D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31520" y="1600200"/>
            <a:ext cx="7680960" cy="4800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74151"/>
                </a:solidFill>
              </a:defRPr>
            </a:pPr>
            <a:r>
              <a:t>Complete alert lifecycle with SLA enforcement and intelligent routing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74151"/>
                </a:solidFill>
              </a:defRPr>
            </a:pPr>
            <a:r>
              <a:t>Alert States: New → Assigned → Under Review → Escalated → Closed (True/False Positive)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74151"/>
                </a:solidFill>
              </a:defRPr>
            </a:pPr>
            <a:r>
              <a:t>Severity-Based SLAs: Critical (4h), High (24h), Medium (72h), Low (168h response time)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74151"/>
                </a:solidFill>
              </a:defRPr>
            </a:pPr>
            <a:r>
              <a:t>Intelligent Auto-Assignment: Routes alerts to available analysts by skill, current workload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74151"/>
                </a:solidFill>
              </a:defRPr>
            </a:pPr>
            <a:r>
              <a:t>Investigation Features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74151"/>
                </a:solidFill>
              </a:defRPr>
            </a:pPr>
            <a:r>
              <a:t>Add detailed investigation notes, attach evidence documents, link related cases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74151"/>
                </a:solidFill>
              </a:defRPr>
            </a:pPr>
            <a:r>
              <a:t>Bulk actions: Close multiple false positives, escalate groups, reassign batches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74151"/>
                </a:solidFill>
              </a:defRPr>
            </a:pPr>
            <a:r>
              <a:t>Override alerts, mark as false positive with reason, escalate for compliance review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74151"/>
                </a:solidFill>
              </a:defRPr>
            </a:pPr>
            <a:r>
              <a:t>Dashboard Analytics: New alerts trending, SLA compliance rate, closure patterns by rule/analyst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F4380"/>
          </a:solidFill>
          <a:ln>
            <a:solidFill>
              <a:srgbClr val="1F43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finsurge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274320"/>
            <a:ext cx="581558" cy="548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320040"/>
            <a:ext cx="7498079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3800" b="1">
                <a:solidFill>
                  <a:srgbClr val="1F4380"/>
                </a:solidFill>
              </a:defRPr>
            </a:pPr>
            <a:r>
              <a:t>Case Management — Structured Investigation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31520" y="1280160"/>
            <a:ext cx="2468880" cy="0"/>
          </a:xfrm>
          <a:prstGeom prst="line">
            <a:avLst/>
          </a:prstGeom>
          <a:ln w="50800">
            <a:solidFill>
              <a:srgbClr val="EA3D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31520" y="1600200"/>
            <a:ext cx="7680960" cy="4800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74151"/>
                </a:solidFill>
              </a:defRPr>
            </a:pPr>
            <a:r>
              <a:t>Consolidate related alerts and evidence into formal investigation cases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74151"/>
                </a:solidFill>
              </a:defRPr>
            </a:pPr>
            <a:r>
              <a:t>Case Types: Fraud, Cyber Attack, Money Laundering, Operational Risk, Internal Misconduct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74151"/>
                </a:solidFill>
              </a:defRPr>
            </a:pPr>
            <a:r>
              <a:t>Case Lifecycle: Open → Assigned → Under Investigation → Escalated → Pending Resolution → Closed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74151"/>
                </a:solidFill>
              </a:defRPr>
            </a:pPr>
            <a:r>
              <a:t>Evidence Management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74151"/>
                </a:solidFill>
              </a:defRPr>
            </a:pPr>
            <a:r>
              <a:t>Attach documents, screenshots, transaction exports, and supporting records to cases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74151"/>
                </a:solidFill>
              </a:defRPr>
            </a:pPr>
            <a:r>
              <a:t>Link multiple alerts, customers, and accounts to single investigation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74151"/>
                </a:solidFill>
              </a:defRPr>
            </a:pPr>
            <a:r>
              <a:t>Integration Capabilities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74151"/>
                </a:solidFill>
              </a:defRPr>
            </a:pPr>
            <a:r>
              <a:t>Auto-generate reports for transactions ≥ ₹10 lakh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74151"/>
                </a:solidFill>
              </a:defRPr>
            </a:pPr>
            <a:r>
              <a:t>Auto-escalate when case confirmed as fraud or suspicious activity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74151"/>
                </a:solidFill>
              </a:defRPr>
            </a:pPr>
            <a:r>
              <a:t>Metrics: Investigation time by type, true positive rate, closure timeliness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F4380"/>
          </a:solidFill>
          <a:ln>
            <a:solidFill>
              <a:srgbClr val="1F43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finsurge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274320"/>
            <a:ext cx="581558" cy="548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320040"/>
            <a:ext cx="7498079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3800" b="1">
                <a:solidFill>
                  <a:srgbClr val="1F4380"/>
                </a:solidFill>
              </a:defRPr>
            </a:pPr>
            <a:r>
              <a:t>Dashboard &amp; Real-Time Monitoring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31520" y="1280160"/>
            <a:ext cx="2468880" cy="0"/>
          </a:xfrm>
          <a:prstGeom prst="line">
            <a:avLst/>
          </a:prstGeom>
          <a:ln w="50800">
            <a:solidFill>
              <a:srgbClr val="EA3D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31520" y="1600200"/>
            <a:ext cx="7680960" cy="4800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74151"/>
                </a:solidFill>
              </a:defRPr>
            </a:pPr>
            <a:r>
              <a:t>Executive visibility into risk management operations and team performance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74151"/>
                </a:solidFill>
              </a:defRPr>
            </a:pPr>
            <a:r>
              <a:t>Key Performance Indicators (Real-Time)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74151"/>
                </a:solidFill>
              </a:defRPr>
            </a:pPr>
            <a:r>
              <a:t>New alerts (24h), Overdue alerts, New cases, Closure rate, SLA compliance %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74151"/>
                </a:solidFill>
              </a:defRPr>
            </a:pPr>
            <a:r>
              <a:t>Operational Dashboards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74151"/>
                </a:solidFill>
              </a:defRPr>
            </a:pPr>
            <a:r>
              <a:t>Alert heatmap by hour, customer segment, rule category showing risk distribution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74151"/>
                </a:solidFill>
              </a:defRPr>
            </a:pPr>
            <a:r>
              <a:t>Team workload: Assignments per analyst, case load, average case resolution time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74151"/>
                </a:solidFill>
              </a:defRPr>
            </a:pPr>
            <a:r>
              <a:t>Rules performance: Top-triggered rules, false positive rate, detection effectiveness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74151"/>
                </a:solidFill>
              </a:defRPr>
            </a:pPr>
            <a:r>
              <a:t>System Health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74151"/>
                </a:solidFill>
              </a:defRPr>
            </a:pPr>
            <a:r>
              <a:t>Database connectivity, API response latency, background job queue depth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74151"/>
                </a:solidFill>
              </a:defRPr>
            </a:pPr>
            <a:r>
              <a:t>Geographic Analysis: Transaction volume and risk by branch, state, customer location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74151"/>
                </a:solidFill>
              </a:defRPr>
            </a:pPr>
            <a:r>
              <a:t>Customizable saved views by role: Compliance Officer, Analyst, Investigator, Operations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F4380"/>
          </a:solidFill>
          <a:ln>
            <a:solidFill>
              <a:srgbClr val="1F43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finsurge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274320"/>
            <a:ext cx="581558" cy="548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320040"/>
            <a:ext cx="7498079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3800" b="1">
                <a:solidFill>
                  <a:srgbClr val="1F4380"/>
                </a:solidFill>
              </a:defRPr>
            </a:pPr>
            <a:r>
              <a:t>Audit Trail — Compliance &amp; Accountability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31520" y="1280160"/>
            <a:ext cx="2468880" cy="0"/>
          </a:xfrm>
          <a:prstGeom prst="line">
            <a:avLst/>
          </a:prstGeom>
          <a:ln w="50800">
            <a:solidFill>
              <a:srgbClr val="EA3D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31520" y="1600200"/>
            <a:ext cx="7680960" cy="4800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74151"/>
                </a:solidFill>
              </a:defRPr>
            </a:pPr>
            <a:r>
              <a:t>Immutable audit logging of every operation for regulatory compliance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74151"/>
                </a:solidFill>
              </a:defRPr>
            </a:pPr>
            <a:r>
              <a:t>Audit Coverage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74151"/>
                </a:solidFill>
              </a:defRPr>
            </a:pPr>
            <a:r>
              <a:t>Detection: Rule creation/modification, alert generation, escalation triggers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74151"/>
                </a:solidFill>
              </a:defRPr>
            </a:pPr>
            <a:r>
              <a:t>Investigation: Case creation, evidence attachment, notes added, disposition marked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74151"/>
                </a:solidFill>
              </a:defRPr>
            </a:pPr>
            <a:r>
              <a:t>Access: User login, data access, rule changes, configuration updates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74151"/>
                </a:solidFill>
              </a:defRPr>
            </a:pPr>
            <a:r>
              <a:t>Retention: 5 years (RBI mandate) for audit logs, 7 years for transaction data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74151"/>
                </a:solidFill>
              </a:defRPr>
            </a:pPr>
            <a:r>
              <a:t>Security Controls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74151"/>
                </a:solidFill>
              </a:defRPr>
            </a:pPr>
            <a:r>
              <a:t>Role-Based Access: Admin, Compliance, Analyst, Investigator, Maker-Checker approval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74151"/>
                </a:solidFill>
              </a:defRPr>
            </a:pPr>
            <a:r>
              <a:t>Data Protection: PII encryption (PAN, Aadhaar), API response masking, HTTPS-only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74151"/>
                </a:solidFill>
              </a:defRPr>
            </a:pPr>
            <a:r>
              <a:t>Tamper Prevention: Append-only logs, digital signing, no modification after creation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74151"/>
                </a:solidFill>
              </a:defRPr>
            </a:pPr>
            <a:r>
              <a:t>Compliance Ready: Meets RBI Master Direction, PMLA Section 12, data localization requirements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