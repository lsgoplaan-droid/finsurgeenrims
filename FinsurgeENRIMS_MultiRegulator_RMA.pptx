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3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3D75"/>
                </a:solidFill>
              </a:defRPr>
            </a:pPr>
            <a:r>
              <a:t>Real-Time Fraud Detection &amp;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Enterprise Risk Management System for Indian &amp; Bhutanese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System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detection of fraud, cyber attacks, and regulatory violations for Indian &amp; Bhutanese banks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92 detection rules organized into 22 detection scenarios covering: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 patterns (card fraud, account takeover, behavioral anomalies, mule accounts)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 threats (SIM swap, phishing, UPI fraud, digital channel attacks)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 fraud (AI deepfakes, synthetic identities, bot detection)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 fraud (employee abuse, data theft)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Customer 360° unified view with network relationship analysis and risk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Alert-to-case-to-investigation workflow with SLA tracking and AI-powered investigation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Multi-Regulator Compliance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Dual compliance scorecard: RBI (India) + RMA (Bhutan)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RBI Compliance (India)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4 sections covering fraud risk, data governance, reporting, IT security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16 requirements auto-tracked with live system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RMA Compliance (Bhutan)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3 sections covering AML/CFT, regulatory reporting, corporate governance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14 requirements including CDD, EDD, sanctions screening, STR filing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Integrated risk scoring with multi-jurisdictional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Automatic compliance assessment with coverage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RMA AML/CFT Compliance (Bhutan)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Comprehensive Anti-Money Laundering &amp; Counter-Financing of Terrorism controls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Customer Due Diligence (CDD) &amp; Enhanced Due Diligence (EDD)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Full KYC verification at account opening with document validation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Automated PEP screening for politically exposed persons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Ultimate Beneficial Owner (UBO) identification and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Ongoing Transaction Monitoring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Real-time screening of all transactions against risk patterns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Sanctions screening against OFAC, UN, and FATF watchlists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Suspicious Transaction Reporting (STR) to FIU-Bhutan within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RMA Regulatory Reporting &amp; LVTR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Automated filing with RMA and Financial Intelligence Unit - Bhutan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Suspicious Transaction Reporting (STR)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Integrated STR workflow with 7-day filing deadline to FIU-Bhutan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Comprehensive case documentation and investigation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Large Value Transaction Reporting (LVTR)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Track and report transactions exceeding Nu. 100,000 threshold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Full transaction records maintained for 5-year RMA requirement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Annual AML/CFT Compliance Report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Board-level reporting with metrics and incident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Compliance Scorecard — Live Metrics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compliance tracking with auto-calculated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RBI Scorecard: 16 requirements across 4 sections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 Risk Management, Data Governance, Reporting, IT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RMA Scorecard: 14 requirements across 3 sections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AML/CFT, Regulatory Reporting, Corporate Governance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Each requirement shows: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Status: Compliant / Partial / At-Risk / Not Implemented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Coverage %: Based on actual system state and metrics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Evidence: Specific data supporting compliance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Investigation &amp; Case Management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Complete alert lifecycle with SLA enforcement and intelligent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 States: New → Assigned → Under Review → Escalated → Closed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Severity-Based SLAs: Critical (4h), High (24h), Medium (72h), Low (168h)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Intelligent Auto-Assignment: Routes alerts to available analysts by skill, workload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Investigation Features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Add detailed notes, attach evidence documents, link related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Bulk actions: Close false positives, escalate groups, reassign batches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Dashboard Analytics: New alerts trending, SLA compliance %, closure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Case Management &amp; Document Downloads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Consolidate related alerts and evidence into formal investigation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Document Generation &amp; Download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Police FIR</a:t>
            </a:r>
            <a:r>
              <a:t> — Download full investigation report with all case details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CTR/SAR Filings</a:t>
            </a:r>
            <a:r>
              <a:t> — Download regulatory reports for archival or reprint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Generate formatted .txt documents suitable for filing and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Evidence Management: Attach documents, screenshots, transaction exports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Types: Fraud, Cyber Attack, Money Laundering, Operational Risk, Internal Misconduct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Lifecycle: Open → Assigned → Under Investigation → Escalated → Closed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Regulatory Filing &amp; Real-Time 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Automated filing workflow with document generation and downloads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CTR/SAR Filings: Download reports with complete filing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FIR Management: File reports with police, track progress, download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Executive visibility into risk management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Key Performance Indicators (Real-Time)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New alerts (24h), Overdue alerts, New cases, Closure rate, SLA compliance 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Operational Dashboards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heatmap by hour, customer segment, rule category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Team workload and case resolution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20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4380"/>
                </a:solidFill>
              </a:defRPr>
            </a:pPr>
            <a:r>
              <a:t>Audit Trail, Security &amp; 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7680960" cy="480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Immutable audit logging for regulatory compliance (RBI + RMA requirements)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Audit Coverage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Detection: Rule creation, alert generation, escalation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Investigation: Case creation, evidence, notes, disposition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Access: User login, data access, rule changes, document downloads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Retention: 5 years (RBI/RMA mandate) for audit logs, 7 years transaction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Security Controls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Role-Based Access with least privilege; JWT-based authentication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 Protection: PII encryption, API response masking, HTTPS-only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Compliance Ready: Meets RBI Master Direction, RMA AML/CFT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