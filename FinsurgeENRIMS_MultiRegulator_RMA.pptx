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38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000" b="1">
                <a:solidFill>
                  <a:srgbClr val="FFFFFF"/>
                </a:solidFill>
              </a:defRPr>
            </a:pPr>
            <a:r>
              <a:t>FinsurgeENRIMS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EA3D75"/>
                </a:solidFill>
              </a:defRPr>
            </a:pPr>
            <a:r>
              <a:t>Real-Time Fraud Detection &amp; 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C8C8C8"/>
                </a:solidFill>
              </a:defRPr>
            </a:pPr>
            <a:r>
              <a:t>Enterprise Risk Management System for Indian &amp; Bhutanese Banking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380"/>
          </a:solidFill>
          <a:ln>
            <a:solidFill>
              <a:srgbClr val="1F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20040"/>
            <a:ext cx="74980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800" b="1">
                <a:solidFill>
                  <a:srgbClr val="1F4380"/>
                </a:solidFill>
              </a:defRPr>
            </a:pPr>
            <a:r>
              <a:t>System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280160"/>
            <a:ext cx="2468880" cy="0"/>
          </a:xfrm>
          <a:prstGeom prst="line">
            <a:avLst/>
          </a:prstGeom>
          <a:ln w="50800">
            <a:solidFill>
              <a:srgbClr val="EA3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00200"/>
            <a:ext cx="7680960" cy="480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Real-time detection of fraud, cyber attacks, and regulatory violations for Indian &amp; Bhutanese banks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77 detection rules organized into 17 detection scenarios covering: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Fraud patterns (card fraud, account takeover, behavioral anomalies, mule accounts)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Cyber threats (SIM swap, phishing, UPI fraud, digital channel attacks)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Advanced fraud (AI deepfakes, synthetic identities, bot detection)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Internal fraud (employee abuse, data theft)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Customer 360° unified view with network relationship analysis and risk screening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Alert-to-case-to-investigation workflow with SLA tracking and AI-powered investigation copilot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380"/>
          </a:solidFill>
          <a:ln>
            <a:solidFill>
              <a:srgbClr val="1F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20040"/>
            <a:ext cx="74980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800" b="1">
                <a:solidFill>
                  <a:srgbClr val="1F4380"/>
                </a:solidFill>
              </a:defRPr>
            </a:pPr>
            <a:r>
              <a:t>Multi-Regulator Compliance Framework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280160"/>
            <a:ext cx="2468880" cy="0"/>
          </a:xfrm>
          <a:prstGeom prst="line">
            <a:avLst/>
          </a:prstGeom>
          <a:ln w="50800">
            <a:solidFill>
              <a:srgbClr val="EA3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00200"/>
            <a:ext cx="7680960" cy="480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Dual compliance scorecard: RBI (India) + RMA (Bhutan) requirements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RBI Compliance (India)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4 sections covering fraud risk, data governance, reporting, IT security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16 requirements auto-tracked with live system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RMA Compliance (Bhutan)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3 sections covering AML/CFT, regulatory reporting, corporate governance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14 requirements including CDD, EDD, sanctions screening, STR filing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Integrated risk scoring with multi-jurisdictional support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Automatic compliance assessment with coverage metrics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380"/>
          </a:solidFill>
          <a:ln>
            <a:solidFill>
              <a:srgbClr val="1F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20040"/>
            <a:ext cx="74980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800" b="1">
                <a:solidFill>
                  <a:srgbClr val="1F4380"/>
                </a:solidFill>
              </a:defRPr>
            </a:pPr>
            <a:r>
              <a:t>Investigation Copilot — AI-Powered Analysis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280160"/>
            <a:ext cx="2468880" cy="0"/>
          </a:xfrm>
          <a:prstGeom prst="line">
            <a:avLst/>
          </a:prstGeom>
          <a:ln w="50800">
            <a:solidFill>
              <a:srgbClr val="EA3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00200"/>
            <a:ext cx="7680960" cy="480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AI-assisted investigation platform accelerating alert analysis and case resolution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Risk Score Transparency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Hover tooltips show exact risk score formula: Base Alert + Risk Factors + PEP Flag + Severity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Helps investigators understand why alerts are prioritized and which cases need immediate attention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rPr b="1"/>
              <a:t>Ask the Copilot</a:t>
            </a:r>
            <a:r>
              <a:t> — Conversational Investigation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rPr b="1"/>
              <a:t>'Why is this customer flagged?'</a:t>
            </a:r>
            <a:r>
              <a:t> — Copilot explains detection pattern and rule triggers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rPr b="1"/>
              <a:t>'Show similar cases'</a:t>
            </a:r>
            <a:r>
              <a:t> — Retrieves historical closed cases with matching characteristics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rPr b="1"/>
              <a:t>'What are next steps?'</a:t>
            </a:r>
            <a:r>
              <a:t> — Recommends investigation actions based on alert profile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Context Integration: Previous cases, activity timeline, related alerts, network relationships in one unified 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380"/>
          </a:solidFill>
          <a:ln>
            <a:solidFill>
              <a:srgbClr val="1F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20040"/>
            <a:ext cx="74980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800" b="1">
                <a:solidFill>
                  <a:srgbClr val="1F4380"/>
                </a:solidFill>
              </a:defRPr>
            </a:pPr>
            <a:r>
              <a:t>Regulatory Document Generation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280160"/>
            <a:ext cx="2468880" cy="0"/>
          </a:xfrm>
          <a:prstGeom prst="line">
            <a:avLst/>
          </a:prstGeom>
          <a:ln w="50800">
            <a:solidFill>
              <a:srgbClr val="EA3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00200"/>
            <a:ext cx="7680960" cy="480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Multi-jurisdictional compliance document automation with format selection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rPr b="1"/>
              <a:t>CTR/LCTR</a:t>
            </a:r>
            <a:r>
              <a:t> — Cash Transaction Reporting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RBI Format: FIU-IND reference, INR 10 Lakh threshold, India compliance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RMA Format: FIU-Bhutan reference, Nu. 100,000 threshold, Bhutan AML/CFT Rules 2009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rPr b="1"/>
              <a:t>STR/SAR</a:t>
            </a:r>
            <a:r>
              <a:t> — Suspicious Transaction Reporting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RBI Format: PMLA-compliant STR with principal officer workflow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RMA Format: AML/CFT Rules 2009, Section 11, 7-day filing deadline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rPr b="1"/>
              <a:t>LVTR</a:t>
            </a:r>
            <a:r>
              <a:t> — Large Value Transaction Report (RMA Rule 14)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Track Nu. 100,000+ transactions; 7-day filing window; full 5-year audit trail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rPr b="1"/>
              <a:t>FIR</a:t>
            </a:r>
            <a:r>
              <a:t> — Police First Information Reports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India Police (IPC sections); Bhutan Police (BPC 2004 sections with MLPCA/BICMA references)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380"/>
          </a:solidFill>
          <a:ln>
            <a:solidFill>
              <a:srgbClr val="1F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20040"/>
            <a:ext cx="74980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800" b="1">
                <a:solidFill>
                  <a:srgbClr val="1F4380"/>
                </a:solidFill>
              </a:defRPr>
            </a:pPr>
            <a:r>
              <a:t>RMA AML/CFT Compliance (Bhutan)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280160"/>
            <a:ext cx="2468880" cy="0"/>
          </a:xfrm>
          <a:prstGeom prst="line">
            <a:avLst/>
          </a:prstGeom>
          <a:ln w="50800">
            <a:solidFill>
              <a:srgbClr val="EA3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00200"/>
            <a:ext cx="7680960" cy="480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Comprehensive Anti-Money Laundering &amp; Counter-Financing of Terrorism controls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Customer Due Diligence (CDD) &amp; Enhanced Due Diligence (EDD)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Full KYC verification at account opening with document validation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Automated PEP screening for politically exposed persons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Ultimate Beneficial Owner (UBO) identification and verification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Ongoing Transaction Monitoring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Real-time screening of all transactions against risk patterns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Sanctions screening against OFAC, UN, and FATF watchlists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Suspicious Transaction Reporting (STR) to FIU-Bhutan within 7 days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380"/>
          </a:solidFill>
          <a:ln>
            <a:solidFill>
              <a:srgbClr val="1F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20040"/>
            <a:ext cx="74980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800" b="1">
                <a:solidFill>
                  <a:srgbClr val="1F4380"/>
                </a:solidFill>
              </a:defRPr>
            </a:pPr>
            <a:r>
              <a:t>RMA Regulatory Reporting &amp; LVTR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280160"/>
            <a:ext cx="2468880" cy="0"/>
          </a:xfrm>
          <a:prstGeom prst="line">
            <a:avLst/>
          </a:prstGeom>
          <a:ln w="50800">
            <a:solidFill>
              <a:srgbClr val="EA3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00200"/>
            <a:ext cx="7680960" cy="480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Automated filing with RMA and Financial Intelligence Unit - Bhutan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Suspicious Transaction Reporting (STR)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Integrated STR workflow with 7-day filing deadline to FIU-Bhutan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Comprehensive case documentation and investigation tracking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Large Value Transaction Reporting (LVTR)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Track and report transactions exceeding Nu. 100,000 threshold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Full transaction records maintained for 5-year RMA requirement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Annual AML/CFT Compliance Report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Board-level reporting with metrics and incident summary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380"/>
          </a:solidFill>
          <a:ln>
            <a:solidFill>
              <a:srgbClr val="1F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20040"/>
            <a:ext cx="74980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800" b="1">
                <a:solidFill>
                  <a:srgbClr val="1F4380"/>
                </a:solidFill>
              </a:defRPr>
            </a:pPr>
            <a:r>
              <a:t>Compliance Scorecard — Live Metrics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280160"/>
            <a:ext cx="2468880" cy="0"/>
          </a:xfrm>
          <a:prstGeom prst="line">
            <a:avLst/>
          </a:prstGeom>
          <a:ln w="50800">
            <a:solidFill>
              <a:srgbClr val="EA3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00200"/>
            <a:ext cx="7680960" cy="480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Real-time compliance tracking with auto-calculated scores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RBI Scorecard: 16 requirements across 4 sections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Fraud Risk Management, Data Governance, Reporting, IT Security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RMA Scorecard: 14 requirements across 3 sections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AML/CFT, Regulatory Reporting, Corporate Governance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Each requirement shows: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Status: Compliant / Partial / At-Risk / Not Implemented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Coverage %: Based on actual system state and metrics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Evidence: Specific data supporting compliance status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380"/>
          </a:solidFill>
          <a:ln>
            <a:solidFill>
              <a:srgbClr val="1F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20040"/>
            <a:ext cx="74980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800" b="1">
                <a:solidFill>
                  <a:srgbClr val="1F4380"/>
                </a:solidFill>
              </a:defRPr>
            </a:pPr>
            <a:r>
              <a:t>Investigation &amp; Case Management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280160"/>
            <a:ext cx="2468880" cy="0"/>
          </a:xfrm>
          <a:prstGeom prst="line">
            <a:avLst/>
          </a:prstGeom>
          <a:ln w="50800">
            <a:solidFill>
              <a:srgbClr val="EA3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00200"/>
            <a:ext cx="7680960" cy="480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Complete alert lifecycle with SLA enforcement and intelligent routing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Alert States: New → Assigned → Under Review → Escalated → Closed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Severity-Based SLAs: Critical (4h), High (24h), Medium (72h), Low (168h)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Intelligent Auto-Assignment: Routes alerts to available analysts by skill, workload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Investigation Features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Add detailed notes, attach evidence documents, link related cases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Bulk actions: Close false positives, escalate groups, reassign batches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Dashboard Analytics: New alerts trending, SLA compliance %, closure patterns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380"/>
          </a:solidFill>
          <a:ln>
            <a:solidFill>
              <a:srgbClr val="1F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20040"/>
            <a:ext cx="74980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800" b="1">
                <a:solidFill>
                  <a:srgbClr val="1F4380"/>
                </a:solidFill>
              </a:defRPr>
            </a:pPr>
            <a:r>
              <a:t>Case Management &amp; Document Downloads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280160"/>
            <a:ext cx="2468880" cy="0"/>
          </a:xfrm>
          <a:prstGeom prst="line">
            <a:avLst/>
          </a:prstGeom>
          <a:ln w="50800">
            <a:solidFill>
              <a:srgbClr val="EA3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00200"/>
            <a:ext cx="7680960" cy="480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Consolidate related alerts and evidence into formal investigation cases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Document Generation &amp; Download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rPr b="1"/>
              <a:t>Police FIR</a:t>
            </a:r>
            <a:r>
              <a:t> — Download full investigation report with all case details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rPr b="1"/>
              <a:t>CTR/SAR Filings</a:t>
            </a:r>
            <a:r>
              <a:t> — Download regulatory reports for archival or reprint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Generate formatted .txt documents suitable for filing and compliance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Evidence Management: Attach documents, screenshots, transaction exports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Case Types: Fraud, Cyber Attack, Money Laundering, Operational Risk, Internal Misconduct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Case Lifecycle: Open → Assigned → Under Investigation → Escalated → Closed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380"/>
          </a:solidFill>
          <a:ln>
            <a:solidFill>
              <a:srgbClr val="1F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20040"/>
            <a:ext cx="74980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800" b="1">
                <a:solidFill>
                  <a:srgbClr val="1F4380"/>
                </a:solidFill>
              </a:defRPr>
            </a:pPr>
            <a:r>
              <a:t>Regulatory Filing &amp; Real-Time Monitoring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280160"/>
            <a:ext cx="2468880" cy="0"/>
          </a:xfrm>
          <a:prstGeom prst="line">
            <a:avLst/>
          </a:prstGeom>
          <a:ln w="50800">
            <a:solidFill>
              <a:srgbClr val="EA3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00200"/>
            <a:ext cx="7680960" cy="480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Automated filing workflow with document generation and downloads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CTR/SAR Filings: Download reports with complete filing details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FIR Management: File reports with police, track progress, download documents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Executive visibility into risk management operations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Key Performance Indicators (Real-Time)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New alerts (24h), Overdue alerts, New cases, Closure rate, SLA compliance 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Operational Dashboards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Alert heatmap by hour, customer segment, rule category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Team workload and case resolution metrics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4380"/>
          </a:solidFill>
          <a:ln>
            <a:solidFill>
              <a:srgbClr val="1F43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insurge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74320"/>
            <a:ext cx="581558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20040"/>
            <a:ext cx="7498079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3800" b="1">
                <a:solidFill>
                  <a:srgbClr val="1F4380"/>
                </a:solidFill>
              </a:defRPr>
            </a:pPr>
            <a:r>
              <a:t>Audit Trail, Security &amp; Governance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280160"/>
            <a:ext cx="2468880" cy="0"/>
          </a:xfrm>
          <a:prstGeom prst="line">
            <a:avLst/>
          </a:prstGeom>
          <a:ln w="50800">
            <a:solidFill>
              <a:srgbClr val="EA3D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600200"/>
            <a:ext cx="7680960" cy="4800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Immutable audit logging for regulatory compliance (RBI + RMA requirements)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Audit Coverage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Detection: Rule creation, alert generation, escalation triggers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Investigation: Case creation, evidence, notes, disposition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Access: User login, data access, rule changes, document downloads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Retention: 5 years (RBI/RMA mandate) for audit logs, 7 years transaction data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374151"/>
                </a:solidFill>
              </a:defRPr>
            </a:pPr>
            <a:r>
              <a:t>Security Controls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Role-Based Access with least privilege; JWT-based authentication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Data Protection: PII encryption, API response masking, HTTPS-only</a:t>
            </a:r>
          </a:p>
          <a:p>
            <a:pPr lvl="1">
              <a:spcBef>
                <a:spcPts val="600"/>
              </a:spcBef>
              <a:spcAft>
                <a:spcPts val="600"/>
              </a:spcAft>
              <a:defRPr sz="1600">
                <a:solidFill>
                  <a:srgbClr val="374151"/>
                </a:solidFill>
              </a:defRPr>
            </a:pPr>
            <a:r>
              <a:t>Compliance Ready: Meets RBI Master Direction, RMA AML/CFT Rules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