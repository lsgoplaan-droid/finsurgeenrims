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Details:</a:t>
            </a:r>
          </a:p>
          <a:p>
            <a:r>
              <a:t>- KPI tiles show real-time metrics updated every 5 minutes</a:t>
            </a:r>
          </a:p>
          <a:p>
            <a:r>
              <a:t>- Open alerts: All non-closed statuses (new, assigned, escalated, under_investigation)</a:t>
            </a:r>
          </a:p>
          <a:p>
            <a:r>
              <a:t>- SLA response times: Critical (2h), High (4h), Medium (8h), Low (24h)</a:t>
            </a:r>
          </a:p>
          <a:p>
            <a:r>
              <a:t>- Fraud loss calculated as sum of transaction amounts flagged as suspicious</a:t>
            </a:r>
          </a:p>
          <a:p>
            <a:r>
              <a:t>- All metrics are clickable drill-downs to detailed list views with full filtering</a:t>
            </a:r>
          </a:p>
          <a:p>
            <a:r>
              <a:t>- Trend charts show 30-day, 90-day, and year-to-date 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Alert Management Details:</a:t>
            </a:r>
          </a:p>
          <a:p>
            <a:r>
              <a:t>- 26 customizable rules: structuring, dormant activation, PEP transactions, velocity, geography, card fraud, channel anomalies</a:t>
            </a:r>
          </a:p>
          <a:p>
            <a:r>
              <a:t>- Each rule has configurable thresholds (amounts, time windows, frequencies)</a:t>
            </a:r>
          </a:p>
          <a:p>
            <a:r>
              <a:t>- New alerts assigned automatically by Investigation Copilot AI to available analysts</a:t>
            </a:r>
          </a:p>
          <a:p>
            <a:r>
              <a:t>- Alert lifecycle: New → Under Investigation → Escalated or Closed → Case Created or Dismissed</a:t>
            </a:r>
          </a:p>
          <a:p>
            <a:r>
              <a:t>- Response SLA enforced: Critical alerts 2h, High 4h, Medium 8h, Low 24h</a:t>
            </a:r>
          </a:p>
          <a:p>
            <a:r>
              <a:t>- Full audit trail maintained for regulatory review (5-year retention)</a:t>
            </a:r>
          </a:p>
          <a:p>
            <a:r>
              <a:t>- Bulk operations supported: bulk close, bulk escalate with audit justification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Management Workflow:</a:t>
            </a:r>
          </a:p>
          <a:p>
            <a:r>
              <a:t>- Case statuses: New → Assigned → Under Investigation → Escalated → Closed (True Positive, False Positive, Inconclusive)</a:t>
            </a:r>
          </a:p>
          <a:p>
            <a:r>
              <a:t>- Disposition options: True Positive (suspicious confirmed), False Positive (no risk), Inconclusive (insufficient data)</a:t>
            </a:r>
          </a:p>
          <a:p>
            <a:r>
              <a:t>- SLA tracking: Open SLA starts on creation, escalation resets SLA to manager's availability</a:t>
            </a:r>
          </a:p>
          <a:p>
            <a:r>
              <a:t>- Evidence attachment: Supports documents (PDF), screenshots, bank statements, investigator comments</a:t>
            </a:r>
          </a:p>
          <a:p>
            <a:r>
              <a:t>- Case linking: Multiple alerts can be linked to single case (e.g., related structuring transactions)</a:t>
            </a:r>
          </a:p>
          <a:p>
            <a:r>
              <a:t>- Timeline: Auto-generated from all case activities with timestamps and user attribution</a:t>
            </a:r>
          </a:p>
          <a:p>
            <a:r>
              <a:t>- True Positive cases auto-generate CTR/SAR with pre-filled transaction details</a:t>
            </a:r>
          </a:p>
          <a:p>
            <a:r>
              <a:t>- Mandatory fields in CTR/SAR: Transaction amount, customer info, reason for suspicion, investigation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RISK SCORING METHODOLOGY:</a:t>
            </a:r>
          </a:p>
          <a:p/>
          <a:p>
            <a:r>
              <a:t>BASE RISK CATEGORIES (Starting Points):</a:t>
            </a:r>
          </a:p>
          <a:p>
            <a:r>
              <a:t>- Low (0-25): Individual customers with clean transaction history, verified employment</a:t>
            </a:r>
          </a:p>
          <a:p>
            <a:r>
              <a:t>- Medium (26-50): Newly onboarded customers or those with occasional suspicious activity</a:t>
            </a:r>
          </a:p>
          <a:p>
            <a:r>
              <a:t>- High (51-75): PEP customers, high-transaction volume, emerging markets, cash-heavy businesses</a:t>
            </a:r>
          </a:p>
          <a:p>
            <a:r>
              <a:t>- Very High (76-100): Multiple red flags, regulatory warnings, known high-risk jurisdictions</a:t>
            </a:r>
          </a:p>
          <a:p/>
          <a:p>
            <a:r>
              <a:t>BEHAVIORAL MODIFIERS (Applied Dynamically):</a:t>
            </a:r>
          </a:p>
          <a:p>
            <a:r>
              <a:t>1. Transaction Velocity: Amount and frequency patterns</a:t>
            </a:r>
          </a:p>
          <a:p>
            <a:r>
              <a:t>   - Spike detection: +15 points if current volume &gt; 3x rolling 30-day average</a:t>
            </a:r>
          </a:p>
          <a:p>
            <a:r>
              <a:t>   - Dormancy reversal: +20 points if account inactive &gt;90 days then large transaction</a:t>
            </a:r>
          </a:p>
          <a:p/>
          <a:p>
            <a:r>
              <a:t>2. Geographic Indicators: +10-30 points for high-risk jurisdictions</a:t>
            </a:r>
          </a:p>
          <a:p>
            <a:r>
              <a:t>   - Sanctioned countries, high-corruption index, FIU watchlist</a:t>
            </a:r>
          </a:p>
          <a:p/>
          <a:p>
            <a:r>
              <a:t>3. Network Risk: +5-25 points based on connected accounts</a:t>
            </a:r>
          </a:p>
          <a:p>
            <a:r>
              <a:t>   - Unusual beneficiary relationships, circular transfers</a:t>
            </a:r>
          </a:p>
          <a:p/>
          <a:p>
            <a:r>
              <a:t>4. Merchant Category: +10-20 points for high-risk sectors</a:t>
            </a:r>
          </a:p>
          <a:p>
            <a:r>
              <a:t>   - Money services, gems/precious metals, casinos, import-export</a:t>
            </a:r>
          </a:p>
          <a:p/>
          <a:p>
            <a:r>
              <a:t>FINAL SCORE CALCULATION:</a:t>
            </a:r>
          </a:p>
          <a:p>
            <a:r>
              <a:t>Risk Score = Base Risk + Σ(Behavioral Modifiers) with caps at 0-100</a:t>
            </a:r>
          </a:p>
          <a:p/>
          <a:p>
            <a:r>
              <a:t>ALERT SENSITIVITY IMPACT:</a:t>
            </a:r>
          </a:p>
          <a:p>
            <a:r>
              <a:t>- Low risk (0-25): Rules trigger at strict thresholds only (high false positive cost)</a:t>
            </a:r>
          </a:p>
          <a:p>
            <a:r>
              <a:t>- Medium (26-50): Standard thresholds, balanced sensitivity</a:t>
            </a:r>
          </a:p>
          <a:p>
            <a:r>
              <a:t>- High (51-75): Enhanced sensitivity, lower thresholds trigger alerts</a:t>
            </a:r>
          </a:p>
          <a:p>
            <a:r>
              <a:t>- Very High (76-100): Maximum sensitivity, aggressive monitoring, mandatory escalation</a:t>
            </a:r>
          </a:p>
          <a:p/>
          <a:p>
            <a:r>
              <a:t>SLA IMPACT:</a:t>
            </a:r>
          </a:p>
          <a:p>
            <a:r>
              <a:t>- Low/Medium: 24-hour response SLA</a:t>
            </a:r>
          </a:p>
          <a:p>
            <a:r>
              <a:t>- High: 8-hour response SLA</a:t>
            </a:r>
          </a:p>
          <a:p>
            <a:r>
              <a:t>- Very High: 2-hour response SLA, automatic escalation to senior analyst</a:t>
            </a:r>
          </a:p>
          <a:p/>
          <a:p>
            <a:r>
              <a:t>SCORE RECALCULATION:</a:t>
            </a:r>
          </a:p>
          <a:p>
            <a:r>
              <a:t>- Triggered on every transaction (real-time)</a:t>
            </a:r>
          </a:p>
          <a:p>
            <a:r>
              <a:t>- Weekly review of behavioral modifiers</a:t>
            </a:r>
          </a:p>
          <a:p>
            <a:r>
              <a:t>- Manual adjustment by compliance officer with full audit trail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Engine &amp; Compliance Details:</a:t>
            </a:r>
          </a:p>
          <a:p>
            <a:r>
              <a:t>- 26 default rules covering RBI Master Direction requirements</a:t>
            </a:r>
          </a:p>
          <a:p>
            <a:r>
              <a:t>- Rule conditions: JSON syntax with operators (&gt;, &lt;, ==, IN, CONTAINS, AND, OR, NOT, BETWEEN, CONTAINS_ALL)</a:t>
            </a:r>
          </a:p>
          <a:p>
            <a:r>
              <a:t>- Each rule has: trigger threshold, time window (24h, 7d, 30d), customer/account scope</a:t>
            </a:r>
          </a:p>
          <a:p>
            <a:r>
              <a:t>- Rule evaluation happens in real-time on every transaction (&lt; 100ms latency)</a:t>
            </a:r>
          </a:p>
          <a:p>
            <a:r>
              <a:t>- Rules can be enabled/disabled per bank policy without code changes</a:t>
            </a:r>
          </a:p>
          <a:p>
            <a:r>
              <a:t>- No-code UI for rule management: rule builder, testing, audit trail</a:t>
            </a:r>
          </a:p>
          <a:p/>
          <a:p>
            <a:r>
              <a:t>Compliance Features:</a:t>
            </a:r>
          </a:p>
          <a:p>
            <a:r>
              <a:t>- CTR (Currency Transaction Report) auto-filed when amount &gt;= ₹10 lakhs</a:t>
            </a:r>
          </a:p>
          <a:p>
            <a:r>
              <a:t>- SAR (Suspicious Activity Report) auto-filed when risk triggers detected</a:t>
            </a:r>
          </a:p>
          <a:p>
            <a:r>
              <a:t>- Audit trail: immutable log of all transactions, alerts, cases, rule changes (5-year retention)</a:t>
            </a:r>
          </a:p>
          <a:p>
            <a:r>
              <a:t>- Data localization: India-only storage (RBI circular 2018 compliant)</a:t>
            </a:r>
          </a:p>
          <a:p>
            <a:r>
              <a:t>- Encryption: PAN/Aadhaar encrypted at rest, PII masked in logs</a:t>
            </a:r>
          </a:p>
          <a:p/>
          <a:p>
            <a:r>
              <a:t>Security:</a:t>
            </a:r>
          </a:p>
          <a:p>
            <a:r>
              <a:t>- PBKDF2 password hashing (not bcrypt - Python 3.12 compatible)</a:t>
            </a:r>
          </a:p>
          <a:p>
            <a:r>
              <a:t>- JWT tokens with 30-minute expiry + sliding refresh</a:t>
            </a:r>
          </a:p>
          <a:p>
            <a:r>
              <a:t>- Rate limiting: 5 login attempts/min per IP, 100 API requests/min per user</a:t>
            </a:r>
          </a:p>
          <a:p>
            <a:r>
              <a:t>- Field-level encryption for PAN, Aadhaar (searchable encryption)</a:t>
            </a:r>
          </a:p>
          <a:p>
            <a:r>
              <a:t>- HTTPS mandatory in production with HSTS headers (1-year validity)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Features Details:</a:t>
            </a:r>
          </a:p>
          <a:p/>
          <a:p>
            <a:r>
              <a:t>Investigation Copilot AI:</a:t>
            </a:r>
          </a:p>
          <a:p>
            <a:r>
              <a:t>- Analyzes: Customer KYC profile, account velocity, prior alerts, transaction patterns, rule triggers</a:t>
            </a:r>
          </a:p>
          <a:p>
            <a:r>
              <a:t>- Provides: Summarized risk profile, key red flags, suggested next steps, confidence scores</a:t>
            </a:r>
          </a:p>
          <a:p>
            <a:r>
              <a:t>- Reduces investigation time: 4-6 hours → 30-45 minutes per alert</a:t>
            </a:r>
          </a:p>
          <a:p>
            <a:r>
              <a:t>- Integration: Available in UI as side panel, no separate tool switching needed</a:t>
            </a:r>
          </a:p>
          <a:p/>
          <a:p>
            <a:r>
              <a:t>Network Analysis:</a:t>
            </a:r>
          </a:p>
          <a:p>
            <a:r>
              <a:t>- Visualizes: Connected accounts, transaction flows, beneficiary relationships</a:t>
            </a:r>
          </a:p>
          <a:p>
            <a:r>
              <a:t>- Detection: Layering rings (circular transfers), money mule networks, collusion patterns</a:t>
            </a:r>
          </a:p>
          <a:p>
            <a:r>
              <a:t>- Scoring: Risk concentration by customer group, geography hotspots</a:t>
            </a:r>
          </a:p>
          <a:p>
            <a:r>
              <a:t>- Performance: Real-time analysis on 1000s of accounts with millisecond response</a:t>
            </a:r>
          </a:p>
          <a:p/>
          <a:p>
            <a:r>
              <a:t>Risk Management Dashboard:</a:t>
            </a:r>
          </a:p>
          <a:p>
            <a:r>
              <a:t>- Risk appetite: Configurable thresholds by geography (India/overseas), merchant category, customer type</a:t>
            </a:r>
          </a:p>
          <a:p>
            <a:r>
              <a:t>- Heat maps: Show actual vs target exposure with drill-down to underlying transactions</a:t>
            </a:r>
          </a:p>
          <a:p>
            <a:r>
              <a:t>- SLA monitoring: Real-time tracking of response times vs commitments (2h/4h/8h/24h targets)</a:t>
            </a:r>
          </a:p>
          <a:p>
            <a:r>
              <a:t>- Regulatory timeline: Auto-countdown to filing deadlines for CTR/SAR</a:t>
            </a:r>
          </a:p>
          <a:p>
            <a:r>
              <a:t>- Production readiness: Prometheus metrics for all KPIs, Grafana dashboards, PagerDuty alerting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371600" cy="12939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FinsurgeENRIMS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82828"/>
                </a:solidFill>
              </a:defRPr>
            </a:pPr>
            <a:r>
              <a:t>Enterprise Risk Management System</a:t>
            </a:r>
          </a:p>
          <a:p>
            <a:r>
              <a:t>Real-time Detection, Investigation &amp; Regulatory Compliance for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217920"/>
            <a:ext cx="914400" cy="8626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Dashboard — Real-Time Oversight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📊 Executive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Centralized view of critical metrics: open alerts (30), active cases (12), fraud loss (₹53.5M), overdue SLA (2 cases). Color-coded severity indicators for quick identification of risk areas.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📈 Trend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Visualize alert volume, case closure rates, and regulatory filing trends over time. Drill-down capability to trace metrics back to source transactions and customers.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⚡ Instant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Click any metric to filter and investigate. Create cases directly from alerts. Assign alerts to analysts with SLA tracking (response time: 2-24 hours based on priority).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217920"/>
            <a:ext cx="914400" cy="8626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Alert Detection &amp; Investigation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🎯 Automated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26 detection rules monitor transactions 24/7 for suspicious patterns: structuring, dormant account activation, unusual velocity, high-risk geography. Real-time risk scoring (0-100) on every transaction.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🔍 Investigation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AI-powered analysis of new alerts. Automatic context gathering: customer profile, account history, network relationships. Smart assignment to available analysts with workload balancing.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✅ Alert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Mark as true positive → escalate to cases. False positive → close with reason. Escalated → manager review. Full audit trail with user, timestamp, and notes on every status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217920"/>
            <a:ext cx="914400" cy="8626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Case Management &amp; Escalation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📋 Full Case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Create case from alert → assign to investigator → track findings → escalate if needed → set disposition (true/false positive) → file regulatory report. SLA tracking with visual indicators for overdue cases.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🔗 Evidence &amp;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Attach evidence (documents, screenshots, investigator notes). Link related alerts and transactions. Build investigation narrative with automated timeline from case activity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⚖️ Regulatory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Cases flagged as true positive auto-file CTR/SAR to FIU-IND portal. Track filing status and regulatory feedback. Maintain 5-year audit trail for compliance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217920"/>
            <a:ext cx="914400" cy="8626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Customer 360 &amp; Fraud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👤 Customer 360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Complete customer view: verification status, risk category, accounts, transaction history (last 50), related alerts, open cases, network relationships. PEP (politically exposed person) flagging with auto-enhanced monitoring for high-risk profiles.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💳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Card fraud monitoring: velocity checks (amount/frequency), cross-border thresholds, merchant category anomalies. Transaction scoring integrates customer risk + behavioral patterns + rules engine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📊 Risk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Dynamic risk adjustment: base risk (low/medium/high/very_high) + behavioral modifiers = real-time customer risk score (0-100). Influences alert sensitivity and SLA prioritization.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217920"/>
            <a:ext cx="914400" cy="8626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Detection Rules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⚙️ Customizable Rules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Rule types: structuring (split transactions), dormant activation, high-risk geography, PEP transactions, velocity anomalies, card fraud, unusual channels. JSON-based conditions support AND/OR logic and 10 evaluation operators. Enable/disable rules by bank policy.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📋 Regulatory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Full compliance with RBI regulatory directives. Auto-generate CTR/SAR reports with mandatory fields. Immutable audit trail proves regulatory requirements met. 5-year data retention with secure encryption and tamper protection.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🔐 Data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PII masking in APIs (PAN: XXXXX1234, phone: +91XXXXX3210). Field-level encryption for sensitive data. HTTPS + HSTS enforcement. Rate limiting prevents brute force attacks (5 login attempts/min).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217920"/>
            <a:ext cx="914400" cy="8626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Advanced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🤖 Investigation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AI-powered assistant for investigators. Analyzes alert context, customer history, and rules that triggered. Suggests next investigative steps with confidence scores. Reduces investigation time from hours to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🕸️ Network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Graph visualization of customer relationships and transaction flows. Identify layering rings and money mule networks. Detect collusion patterns across accounts and customers. Risk concentration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📊 Risk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Risk appetite heatmaps by geography, merchant, customer segment. SLA compliance dashboard: target vs actual. Regulatory filing deadlines with countdown. Production-ready monitoring with Prometheus metrics and alerting.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